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15" r:id="rId2"/>
    <p:sldId id="260" r:id="rId3"/>
    <p:sldId id="307" r:id="rId4"/>
    <p:sldId id="308" r:id="rId5"/>
    <p:sldId id="310" r:id="rId6"/>
    <p:sldId id="309" r:id="rId7"/>
    <p:sldId id="311" r:id="rId8"/>
    <p:sldId id="312" r:id="rId9"/>
    <p:sldId id="313" r:id="rId10"/>
    <p:sldId id="314" r:id="rId11"/>
    <p:sldId id="316" r:id="rId12"/>
    <p:sldId id="31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EFF"/>
    <a:srgbClr val="151515"/>
    <a:srgbClr val="00000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0608"/>
  </p:normalViewPr>
  <p:slideViewPr>
    <p:cSldViewPr>
      <p:cViewPr varScale="1">
        <p:scale>
          <a:sx n="104" d="100"/>
          <a:sy n="104" d="100"/>
        </p:scale>
        <p:origin x="8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25D7B-1C6D-5D4C-BBB8-93591E9413E9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D3F56-6396-3545-A8D6-4399F38463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2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73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335279"/>
            <a:ext cx="2706624" cy="5364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615" y="335279"/>
            <a:ext cx="594360" cy="536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249" y="1391412"/>
            <a:ext cx="6474459" cy="42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2688" y="1478787"/>
            <a:ext cx="5196205" cy="300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88DA2-44A2-7395-9915-5F0B22BF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276600"/>
            <a:ext cx="10363200" cy="1169551"/>
          </a:xfrm>
        </p:spPr>
        <p:txBody>
          <a:bodyPr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Helvetica Neue" panose="02000503000000020004" pitchFamily="2" charset="0"/>
              </a:rPr>
              <a:t>«Жизненный цикл </a:t>
            </a:r>
            <a:r>
              <a:rPr lang="en-US" sz="4000" dirty="0">
                <a:solidFill>
                  <a:schemeClr val="bg1"/>
                </a:solidFill>
                <a:latin typeface="Helvetica Neue" panose="02000503000000020004" pitchFamily="2" charset="0"/>
              </a:rPr>
              <a:t>ML-</a:t>
            </a:r>
            <a:r>
              <a:rPr lang="ru-RU" sz="4000" dirty="0">
                <a:solidFill>
                  <a:schemeClr val="bg1"/>
                </a:solidFill>
                <a:latin typeface="Helvetica Neue" panose="02000503000000020004" pitchFamily="2" charset="0"/>
              </a:rPr>
              <a:t>системы»</a:t>
            </a:r>
            <a:br>
              <a:rPr lang="ru-RU" sz="4000" dirty="0">
                <a:solidFill>
                  <a:schemeClr val="bg1"/>
                </a:solidFill>
                <a:latin typeface="Helvetica Neue" panose="02000503000000020004" pitchFamily="2" charset="0"/>
              </a:rPr>
            </a:b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16465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Основные этапы разработки </a:t>
            </a:r>
            <a:r>
              <a:rPr lang="en-US" spc="-95" dirty="0">
                <a:solidFill>
                  <a:srgbClr val="000000"/>
                </a:solidFill>
              </a:rPr>
              <a:t>ML-</a:t>
            </a:r>
            <a:r>
              <a:rPr lang="ru-RU" spc="-95" dirty="0">
                <a:solidFill>
                  <a:srgbClr val="000000"/>
                </a:solidFill>
              </a:rPr>
              <a:t>решения</a:t>
            </a:r>
            <a:endParaRPr lang="ru-RU" spc="-65" dirty="0">
              <a:solidFill>
                <a:srgbClr val="00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132A16-D152-3D07-B836-739870F96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17410"/>
            <a:ext cx="7467600" cy="22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7339B8-473C-3057-0E40-ED1FCD24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A61BA1C-1447-9242-5BE5-BCDB234792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1F5CE48-EC3F-756E-353D-505F7348F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Жизненный цикл разработки </a:t>
            </a:r>
            <a:r>
              <a:rPr lang="en-US" spc="-95" dirty="0">
                <a:solidFill>
                  <a:srgbClr val="000000"/>
                </a:solidFill>
              </a:rPr>
              <a:t>ML-</a:t>
            </a:r>
            <a:r>
              <a:rPr lang="ru-RU" spc="-95" dirty="0">
                <a:solidFill>
                  <a:srgbClr val="000000"/>
                </a:solidFill>
              </a:rPr>
              <a:t>решения</a:t>
            </a:r>
            <a:endParaRPr lang="ru-RU" spc="-65" dirty="0">
              <a:solidFill>
                <a:srgbClr val="000000"/>
              </a:solidFill>
            </a:endParaRPr>
          </a:p>
        </p:txBody>
      </p:sp>
      <p:pic>
        <p:nvPicPr>
          <p:cNvPr id="1028" name="Picture 4" descr="CRISP-ML(Q)">
            <a:extLst>
              <a:ext uri="{FF2B5EF4-FFF2-40B4-BE49-F238E27FC236}">
                <a16:creationId xmlns:a16="http://schemas.microsoft.com/office/drawing/2014/main" id="{7735F5EB-D49D-FC08-ADD7-F165355E7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7603551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3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839B27-F395-77A2-E352-139F049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96F7460-12E7-E908-2E34-3B50BFAFB4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E1149D7-F503-D39C-4B1C-DC9D5ED1D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Business &amp; Data </a:t>
            </a:r>
            <a:r>
              <a:rPr lang="en-US" spc="-95" dirty="0" err="1">
                <a:solidFill>
                  <a:srgbClr val="000000"/>
                </a:solidFill>
              </a:rPr>
              <a:t>Understading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06F0CA-4820-DABE-7502-95D670CFF986}"/>
              </a:ext>
            </a:extLst>
          </p:cNvPr>
          <p:cNvSpPr txBox="1"/>
          <p:nvPr/>
        </p:nvSpPr>
        <p:spPr>
          <a:xfrm>
            <a:off x="880249" y="2576846"/>
            <a:ext cx="59065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необходимо определить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проблему,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измеримые критерии успеха</a:t>
            </a:r>
            <a:r>
              <a:rPr lang="en-US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Также следует подтвердить осуществимость идеи перед запуском ML-проекта в промышленных условиях, определив доступность данных, нормативные ограничения и нефункциональные требования к приложению, такие как надежность, масштабируемость, объяснимость и потребность в ресурсах.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5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AA05F1-2E26-0EEE-9365-8BDB5CC7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2110294-4EF4-2D89-6516-36E3DBEF00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6BB6681-B831-D080-B1BD-AC03F1831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Business &amp; Data </a:t>
            </a:r>
            <a:r>
              <a:rPr lang="en-US" spc="-95" dirty="0" err="1">
                <a:solidFill>
                  <a:srgbClr val="000000"/>
                </a:solidFill>
              </a:rPr>
              <a:t>Understading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1045B-4BB6-409E-2D08-31CD8AA27F2F}"/>
              </a:ext>
            </a:extLst>
          </p:cNvPr>
          <p:cNvSpPr txBox="1"/>
          <p:nvPr/>
        </p:nvSpPr>
        <p:spPr>
          <a:xfrm>
            <a:off x="762000" y="2057400"/>
            <a:ext cx="112776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Бизнес-цель: 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формулируем проблему заказчика, которую требуется решить. 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Проблема может формулироваться в получении доп. прибыли или оптимизации издержек.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Функции, которые должна поддерживать система: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Какие из функциональных возможностей системы могут повлиять на проектирование ML части?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Данные: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Откуда поступают данные? Каков размер датасета? Размечены ли данные?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Ограничения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Какая вычислительная мощность доступна? Будет ли система работать в облаке или на локальном устройстве? Планируется ли, что со временем модель будет автоматически совершенствоваться?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Масштаб системы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Сколько пользователей будет у системы? С каким количеством объектов (например, видеороликов) придется иметь дело? С какой скоростью растут эти показатели?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Производительность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Насколько быстрыми должны быть предсказания? Должна ли система работать в реальном времени? Что важнее — точность или низкая задержка?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Общая ц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ель этапа - согласовать рамки системы и требования к ней. 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Важно составить список требований и ограничений, согласовать с заинтересованными лицами, т.к. это поможет убедиться, что все одинаково представляют себе задачу.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4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B49218-C193-8A1D-45DE-ED68988B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earn the basics of ML Products and Services">
            <a:extLst>
              <a:ext uri="{FF2B5EF4-FFF2-40B4-BE49-F238E27FC236}">
                <a16:creationId xmlns:a16="http://schemas.microsoft.com/office/drawing/2014/main" id="{F1269988-B8E7-6301-386A-01E93F5BD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114800"/>
            <a:ext cx="54864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69031D29-0947-123F-EA66-DBEF5AEF5C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1E96514-8C1B-6DE1-37C9-63F68FF0D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Data Engineering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9A927-B0CF-9ADB-CEC7-115937485F53}"/>
              </a:ext>
            </a:extLst>
          </p:cNvPr>
          <p:cNvSpPr txBox="1"/>
          <p:nvPr/>
        </p:nvSpPr>
        <p:spPr>
          <a:xfrm>
            <a:off x="880249" y="2576846"/>
            <a:ext cx="5906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выполняются задачи получения данных, их очистки и преобразования в пригодный для моделирования вид.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Некоторые задачи этапа: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Отбор признаков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Отбор данных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Балансировка классов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Очистка данных: работа с выбросами, пропусками, шумом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Конструирование признаков 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Аугментация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Стандартизация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2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DA3F43-2926-3A23-F693-52A4092A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6184634-154B-13A0-3619-6DD7ADC9B1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EBF393F-9682-3429-90BF-E0820B25C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Model Building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52D705-B99C-98CA-139C-0A209E3F3413}"/>
              </a:ext>
            </a:extLst>
          </p:cNvPr>
          <p:cNvSpPr txBox="1"/>
          <p:nvPr/>
        </p:nvSpPr>
        <p:spPr>
          <a:xfrm>
            <a:off x="880249" y="2576846"/>
            <a:ext cx="59065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Этот этап определяется ограничениями и требованиями, полученными на этапе понимания бизнеса и данных. 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правило, этап моделирования включает в себя выбор ML-модели</a:t>
            </a:r>
            <a:r>
              <a:rPr lang="en-US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ее 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обучение / дообучение.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1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2CFEB3-3F93-85E6-25E5-C3DB3D4B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7A56319-F35F-C847-563D-32D691D346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6167F9C-9176-7D4C-4D94-D3708D83C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Model Evaluation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E17DED-D302-5A11-14B3-0F91C8228BB9}"/>
              </a:ext>
            </a:extLst>
          </p:cNvPr>
          <p:cNvSpPr txBox="1"/>
          <p:nvPr/>
        </p:nvSpPr>
        <p:spPr>
          <a:xfrm>
            <a:off x="880249" y="2576846"/>
            <a:ext cx="5906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проверяется производительность обученной модели на тестовом наборе данных и принимается решение о ее дальнейшей судьбе.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17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0D63DD-8149-A940-70C9-E81EA276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guide to ML model serving | Ubuntu">
            <a:extLst>
              <a:ext uri="{FF2B5EF4-FFF2-40B4-BE49-F238E27FC236}">
                <a16:creationId xmlns:a16="http://schemas.microsoft.com/office/drawing/2014/main" id="{48E1F926-F4AC-6996-951E-BEC6F9168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100" y="3810000"/>
            <a:ext cx="5638800" cy="289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945F3BA7-E70E-C720-5E6D-A9DFDC0BE7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38A6A0E-208B-C33D-216D-C31DC46682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Model Deployment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06C6D-407E-70FC-8A6D-49A6C285158D}"/>
              </a:ext>
            </a:extLst>
          </p:cNvPr>
          <p:cNvSpPr txBox="1"/>
          <p:nvPr/>
        </p:nvSpPr>
        <p:spPr>
          <a:xfrm>
            <a:off x="880249" y="2576846"/>
            <a:ext cx="59065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осуществляется 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модели ML в </a:t>
            </a:r>
            <a:r>
              <a:rPr lang="en-US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production.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Подходы к развертыванию определяются на первом этапе жизненного цикла </a:t>
            </a:r>
            <a:r>
              <a:rPr lang="en-US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business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02900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C37437-C4CC-6FBF-8F14-5064BAB4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A Comprehensive Guide on How to Monitor Your Models in Production">
            <a:extLst>
              <a:ext uri="{FF2B5EF4-FFF2-40B4-BE49-F238E27FC236}">
                <a16:creationId xmlns:a16="http://schemas.microsoft.com/office/drawing/2014/main" id="{8DC33372-4301-20F3-5D53-44C008580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3467220"/>
            <a:ext cx="5947929" cy="339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B407D4E2-C191-324C-9711-E284E31630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D42A319-4DF2-7885-387E-60D288484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rgbClr val="000000"/>
                </a:solidFill>
              </a:rPr>
              <a:t>Monitoring and Maintenance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32EE5-C7C4-3A2F-9474-9F0B7FEA8998}"/>
              </a:ext>
            </a:extLst>
          </p:cNvPr>
          <p:cNvSpPr txBox="1"/>
          <p:nvPr/>
        </p:nvSpPr>
        <p:spPr>
          <a:xfrm>
            <a:off x="880249" y="2576846"/>
            <a:ext cx="49109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После того, как модель ML была развернута, важно контролировать ее производительность и осуществлять поддержку.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Некоторые задачи этапа: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Отслежива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ние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эффективности модели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Сбор новых данных и разметка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Переобучен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 при необходимости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Повторение задач из этапов </a:t>
            </a:r>
            <a:r>
              <a:rPr lang="ru-RU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en-US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Building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 и «</a:t>
            </a:r>
            <a:r>
              <a:rPr lang="en-US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Evaluation</a:t>
            </a:r>
            <a:r>
              <a:rPr lang="ru-RU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en-US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53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A0CB7B-644F-989E-3115-508B9C10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0D35623-5AFB-4055-BAAF-085E9F1353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2D84CC-79A4-49FD-7453-6BC0559C0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Когда ML/AI избыточен или неэффективен?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A2671D-CD16-6DA6-8867-F4C82FC934F2}"/>
              </a:ext>
            </a:extLst>
          </p:cNvPr>
          <p:cNvSpPr txBox="1"/>
          <p:nvPr/>
        </p:nvSpPr>
        <p:spPr>
          <a:xfrm>
            <a:off x="880249" y="2576846"/>
            <a:ext cx="5906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Простые правила: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задачи, решаемые четкими алгоритмами (сортировка, проверка условий)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Недостаток данных: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маленькие или несбалансированные датасеты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Высокие требования к интерпретируемости: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критические системы (медицина, финансы), где важны объяснимые решения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Высокая цена ошибки: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медицина, юриспруденция, …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Нет изменяющихся факторов: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статичные процессы, не требующие адаптации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950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944382-CF62-C979-0484-6305EE91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708F62A-715A-81CC-1858-39B8CCF794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81E1093-E1E0-35A5-9594-2D4F9A012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Практические критерии для оценки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D4F0CD-9CFD-23B1-852B-9AF7347BC193}"/>
              </a:ext>
            </a:extLst>
          </p:cNvPr>
          <p:cNvSpPr txBox="1"/>
          <p:nvPr/>
        </p:nvSpPr>
        <p:spPr>
          <a:xfrm>
            <a:off x="880249" y="2576846"/>
            <a:ext cx="59065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ROI: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Окупится ли внедрение ML?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Достижим ли результат?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Доступность данных: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Есть ли качественные данные для обучения?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Инфраструктура: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Готовы ли системы к интеграции?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Этические и регуляторные ограничения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3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521</Words>
  <Application>Microsoft Office PowerPoint</Application>
  <PresentationFormat>Широкоэкранный</PresentationFormat>
  <Paragraphs>65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Helvetica Neue</vt:lpstr>
      <vt:lpstr>Verdana</vt:lpstr>
      <vt:lpstr>Office Theme</vt:lpstr>
      <vt:lpstr>«Жизненный цикл ML-системы» </vt:lpstr>
      <vt:lpstr>Основные этапы разработки ML-решения</vt:lpstr>
      <vt:lpstr>Жизненный цикл разработки ML-решения</vt:lpstr>
      <vt:lpstr>Business &amp; Data Understading</vt:lpstr>
      <vt:lpstr>Business &amp; Data Understading</vt:lpstr>
      <vt:lpstr>Data Engineering</vt:lpstr>
      <vt:lpstr>Model Building</vt:lpstr>
      <vt:lpstr>Model Evaluation</vt:lpstr>
      <vt:lpstr>Model Deployment</vt:lpstr>
      <vt:lpstr>Monitoring and Maintenance</vt:lpstr>
      <vt:lpstr>Когда ML/AI избыточен или неэффективен?</vt:lpstr>
      <vt:lpstr>Практические критерии для оценки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Кристина Желтова</cp:lastModifiedBy>
  <cp:revision>27</cp:revision>
  <dcterms:created xsi:type="dcterms:W3CDTF">2025-04-21T14:02:08Z</dcterms:created>
  <dcterms:modified xsi:type="dcterms:W3CDTF">2026-02-07T14:09:27Z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2024-11-19T00:00:00Z</vt:filetime>
  </property>
  <property fmtid="{D5CDD505-2E9C-101B-9397-08002B2CF9AE}" pid="3" name="LastSaved">
    <vt:filetime>2025-04-21T00:00:00Z</vt:filetime>
  </property>
  <property fmtid="{D5CDD505-2E9C-101B-9397-08002B2CF9AE}" pid="4" name="Producer">
    <vt:lpwstr>macOS Версия 15.0 (Выпуск 24A335) Quartz PDFContext</vt:lpwstr>
  </property>
</Properties>
</file>